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2"/>
  </p:notesMasterIdLst>
  <p:handoutMasterIdLst>
    <p:handoutMasterId r:id="rId13"/>
  </p:handoutMasterIdLst>
  <p:sldIdLst>
    <p:sldId id="256" r:id="rId5"/>
    <p:sldId id="271" r:id="rId6"/>
    <p:sldId id="280" r:id="rId7"/>
    <p:sldId id="281" r:id="rId8"/>
    <p:sldId id="282" r:id="rId9"/>
    <p:sldId id="283"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80"/>
            <p14:sldId id="281"/>
            <p14:sldId id="282"/>
            <p14:sldId id="283"/>
          </p14:sldIdLst>
        </p14:section>
        <p14:section name="Learn More" id="{2CC34DB2-6590-42C0-AD4B-A04C6060184E}">
          <p14:sldIdLst>
            <p14:sldId id="28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B4A6"/>
    <a:srgbClr val="D24726"/>
    <a:srgbClr val="404040"/>
    <a:srgbClr val="FF9B45"/>
    <a:srgbClr val="F8CFB6"/>
    <a:srgbClr val="F8CAB6"/>
    <a:srgbClr val="923922"/>
    <a:srgbClr val="F5F5F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640" autoAdjust="0"/>
  </p:normalViewPr>
  <p:slideViewPr>
    <p:cSldViewPr snapToGrid="0">
      <p:cViewPr>
        <p:scale>
          <a:sx n="75" d="100"/>
          <a:sy n="75" d="100"/>
        </p:scale>
        <p:origin x="854" y="4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8/20/2026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8/20/2026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F61EA0F-A667-4B49-8422-0062BC55E249}" type="slidenum">
              <a:rPr lang="en-US" smtClean="0"/>
              <a:t>2</a:t>
            </a:fld>
            <a:endParaRPr lang="en-US" dirty="0"/>
          </a:p>
        </p:txBody>
      </p:sp>
    </p:spTree>
    <p:extLst>
      <p:ext uri="{BB962C8B-B14F-4D97-AF65-F5344CB8AC3E}">
        <p14:creationId xmlns:p14="http://schemas.microsoft.com/office/powerpoint/2010/main" val="1286379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476893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891BA-5B26-04AE-90ED-7AA8EE00A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B887F-25E2-B1C6-5331-78C8320A44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A80646B-D382-752E-3D16-6736A8EDEA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3671C6-674F-DB98-3904-CD81B8A5C6E9}"/>
              </a:ext>
            </a:extLst>
          </p:cNvPr>
          <p:cNvSpPr>
            <a:spLocks noGrp="1"/>
          </p:cNvSpPr>
          <p:nvPr>
            <p:ph type="sldNum" sz="quarter" idx="10"/>
          </p:nvPr>
        </p:nvSpPr>
        <p:spPr/>
        <p:txBody>
          <a:bodyPr/>
          <a:lstStyle/>
          <a:p>
            <a:fld id="{DF61EA0F-A667-4B49-8422-0062BC55E249}" type="slidenum">
              <a:rPr lang="en-US" smtClean="0"/>
              <a:t>7</a:t>
            </a:fld>
            <a:endParaRPr lang="en-US" dirty="0"/>
          </a:p>
        </p:txBody>
      </p:sp>
    </p:spTree>
    <p:extLst>
      <p:ext uri="{BB962C8B-B14F-4D97-AF65-F5344CB8AC3E}">
        <p14:creationId xmlns:p14="http://schemas.microsoft.com/office/powerpoint/2010/main" val="1473731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8/20/2026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8/20/2026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6481" y="1782161"/>
            <a:ext cx="10515600" cy="2387600"/>
          </a:xfrm>
        </p:spPr>
        <p:txBody>
          <a:bodyPr anchor="ctr" anchorCtr="0">
            <a:normAutofit/>
          </a:bodyPr>
          <a:lstStyle/>
          <a:p>
            <a:r>
              <a:rPr lang="en-US" sz="4800" b="1" dirty="0">
                <a:solidFill>
                  <a:schemeClr val="bg1"/>
                </a:solidFill>
              </a:rPr>
              <a:t>Credit Card Fraud Detection Pipeline</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
        <p:nvSpPr>
          <p:cNvPr id="6" name="TextBox 5">
            <a:extLst>
              <a:ext uri="{FF2B5EF4-FFF2-40B4-BE49-F238E27FC236}">
                <a16:creationId xmlns:a16="http://schemas.microsoft.com/office/drawing/2014/main" id="{4BDB976F-F981-9C39-0B5D-53F519F1818E}"/>
              </a:ext>
            </a:extLst>
          </p:cNvPr>
          <p:cNvSpPr txBox="1"/>
          <p:nvPr/>
        </p:nvSpPr>
        <p:spPr>
          <a:xfrm>
            <a:off x="6979920" y="3838845"/>
            <a:ext cx="6096000" cy="3016210"/>
          </a:xfrm>
          <a:prstGeom prst="rect">
            <a:avLst/>
          </a:prstGeom>
          <a:noFill/>
        </p:spPr>
        <p:txBody>
          <a:bodyPr wrap="square">
            <a:spAutoFit/>
          </a:bodyPr>
          <a:lstStyle/>
          <a:p>
            <a:r>
              <a:rPr lang="en-US" sz="2400" b="1" u="sng"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Team No 53:</a:t>
            </a:r>
          </a:p>
          <a:p>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Mohammed </a:t>
            </a:r>
            <a:r>
              <a:rPr lang="en-US" sz="2000" dirty="0" err="1">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Shujath</a:t>
            </a:r>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 – DA25M590</a:t>
            </a:r>
          </a:p>
          <a:p>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Sarita-DA25M617</a:t>
            </a:r>
          </a:p>
          <a:p>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K. Afsar Ali- DA25M535</a:t>
            </a:r>
          </a:p>
          <a:p>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Gutti Ashok Kumar-DA25M567</a:t>
            </a:r>
          </a:p>
          <a:p>
            <a:r>
              <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rPr>
              <a:t>Belhe Rohan Shirish- DA25M555</a:t>
            </a:r>
          </a:p>
          <a:p>
            <a:endParaRPr lang="en-US" sz="2000" dirty="0">
              <a:solidFill>
                <a:srgbClr val="D2B4A6"/>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8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dirty="0"/>
          </a:p>
        </p:txBody>
      </p:sp>
      <p:graphicFrame>
        <p:nvGraphicFramePr>
          <p:cNvPr id="7" name="Table 6">
            <a:extLst>
              <a:ext uri="{FF2B5EF4-FFF2-40B4-BE49-F238E27FC236}">
                <a16:creationId xmlns:a16="http://schemas.microsoft.com/office/drawing/2014/main" id="{08FB54B6-8B97-4321-E786-2DA17F9BD897}"/>
              </a:ext>
            </a:extLst>
          </p:cNvPr>
          <p:cNvGraphicFramePr>
            <a:graphicFrameLocks noGrp="1"/>
          </p:cNvGraphicFramePr>
          <p:nvPr/>
        </p:nvGraphicFramePr>
        <p:xfrm>
          <a:off x="539749" y="3370897"/>
          <a:ext cx="4416427" cy="106680"/>
        </p:xfrm>
        <a:graphic>
          <a:graphicData uri="http://schemas.openxmlformats.org/drawingml/2006/table">
            <a:tbl>
              <a:tblPr/>
              <a:tblGrid>
                <a:gridCol w="840364">
                  <a:extLst>
                    <a:ext uri="{9D8B030D-6E8A-4147-A177-3AD203B41FA5}">
                      <a16:colId xmlns:a16="http://schemas.microsoft.com/office/drawing/2014/main" val="1084394754"/>
                    </a:ext>
                  </a:extLst>
                </a:gridCol>
                <a:gridCol w="840364">
                  <a:extLst>
                    <a:ext uri="{9D8B030D-6E8A-4147-A177-3AD203B41FA5}">
                      <a16:colId xmlns:a16="http://schemas.microsoft.com/office/drawing/2014/main" val="953121318"/>
                    </a:ext>
                  </a:extLst>
                </a:gridCol>
                <a:gridCol w="1054971">
                  <a:extLst>
                    <a:ext uri="{9D8B030D-6E8A-4147-A177-3AD203B41FA5}">
                      <a16:colId xmlns:a16="http://schemas.microsoft.com/office/drawing/2014/main" val="2263766563"/>
                    </a:ext>
                  </a:extLst>
                </a:gridCol>
                <a:gridCol w="840364">
                  <a:extLst>
                    <a:ext uri="{9D8B030D-6E8A-4147-A177-3AD203B41FA5}">
                      <a16:colId xmlns:a16="http://schemas.microsoft.com/office/drawing/2014/main" val="3961705885"/>
                    </a:ext>
                  </a:extLst>
                </a:gridCol>
                <a:gridCol w="840364">
                  <a:extLst>
                    <a:ext uri="{9D8B030D-6E8A-4147-A177-3AD203B41FA5}">
                      <a16:colId xmlns:a16="http://schemas.microsoft.com/office/drawing/2014/main" val="1405283187"/>
                    </a:ext>
                  </a:extLst>
                </a:gridCol>
              </a:tblGrid>
              <a:tr h="104052">
                <a:tc>
                  <a:txBody>
                    <a:bodyPr/>
                    <a:lstStyle/>
                    <a:p>
                      <a:pPr rtl="0">
                        <a:spcBef>
                          <a:spcPts val="75"/>
                        </a:spcBef>
                        <a:buNone/>
                      </a:pPr>
                      <a:r>
                        <a:rPr lang="en-US" sz="700">
                          <a:effectLst/>
                        </a:rPr>
                        <a:t> </a:t>
                      </a:r>
                    </a:p>
                  </a:txBody>
                  <a:tcPr marL="0" marR="161859" marT="0" marB="0" anchor="ctr">
                    <a:lnL>
                      <a:noFill/>
                    </a:lnL>
                    <a:lnR>
                      <a:noFill/>
                    </a:lnR>
                    <a:lnT w="7620" cap="flat" cmpd="sng" algn="ctr">
                      <a:solidFill>
                        <a:srgbClr val="C4C7C5"/>
                      </a:solidFill>
                      <a:prstDash val="solid"/>
                      <a:round/>
                      <a:headEnd type="none" w="med" len="med"/>
                      <a:tailEnd type="none" w="med" len="med"/>
                    </a:lnT>
                    <a:lnB>
                      <a:noFill/>
                    </a:lnB>
                    <a:solidFill>
                      <a:srgbClr val="F8FAFD"/>
                    </a:solidFill>
                  </a:tcPr>
                </a:tc>
                <a:tc>
                  <a:txBody>
                    <a:bodyPr/>
                    <a:lstStyle/>
                    <a:p>
                      <a:pPr rtl="0">
                        <a:spcBef>
                          <a:spcPts val="75"/>
                        </a:spcBef>
                        <a:buNone/>
                      </a:pPr>
                      <a:endParaRPr lang="en-US" sz="700">
                        <a:effectLst/>
                      </a:endParaRPr>
                    </a:p>
                  </a:txBody>
                  <a:tcPr marL="0" marR="161859" marT="0" marB="0" anchor="ctr">
                    <a:lnL>
                      <a:noFill/>
                    </a:lnL>
                    <a:lnR>
                      <a:noFill/>
                    </a:lnR>
                    <a:lnT w="7620" cap="flat" cmpd="sng" algn="ctr">
                      <a:solidFill>
                        <a:srgbClr val="C4C7C5"/>
                      </a:solidFill>
                      <a:prstDash val="solid"/>
                      <a:round/>
                      <a:headEnd type="none" w="med" len="med"/>
                      <a:tailEnd type="none" w="med" len="med"/>
                    </a:lnT>
                    <a:lnB>
                      <a:noFill/>
                    </a:lnB>
                    <a:solidFill>
                      <a:srgbClr val="F8FAFD"/>
                    </a:solidFill>
                  </a:tcPr>
                </a:tc>
                <a:tc>
                  <a:txBody>
                    <a:bodyPr/>
                    <a:lstStyle/>
                    <a:p>
                      <a:pPr rtl="0" fontAlgn="b">
                        <a:spcBef>
                          <a:spcPts val="75"/>
                        </a:spcBef>
                        <a:buNone/>
                      </a:pPr>
                      <a:endParaRPr lang="en-US" sz="700">
                        <a:effectLst/>
                      </a:endParaRPr>
                    </a:p>
                  </a:txBody>
                  <a:tcPr marL="0" marR="161859" marT="0" marB="0" anchor="b">
                    <a:lnL>
                      <a:noFill/>
                    </a:lnL>
                    <a:lnR>
                      <a:noFill/>
                    </a:lnR>
                    <a:lnT w="7620" cap="flat" cmpd="sng" algn="ctr">
                      <a:solidFill>
                        <a:srgbClr val="C4C7C5"/>
                      </a:solidFill>
                      <a:prstDash val="solid"/>
                      <a:round/>
                      <a:headEnd type="none" w="med" len="med"/>
                      <a:tailEnd type="none" w="med" len="med"/>
                    </a:lnT>
                    <a:lnB>
                      <a:noFill/>
                    </a:lnB>
                    <a:solidFill>
                      <a:srgbClr val="F8FAFD"/>
                    </a:solidFill>
                  </a:tcPr>
                </a:tc>
                <a:tc>
                  <a:txBody>
                    <a:bodyPr/>
                    <a:lstStyle/>
                    <a:p>
                      <a:pPr rtl="0">
                        <a:spcBef>
                          <a:spcPts val="75"/>
                        </a:spcBef>
                        <a:buNone/>
                      </a:pPr>
                      <a:endParaRPr lang="en-US" sz="700">
                        <a:effectLst/>
                      </a:endParaRPr>
                    </a:p>
                  </a:txBody>
                  <a:tcPr marL="0" marR="161859" marT="0" marB="0" anchor="ctr">
                    <a:lnL>
                      <a:noFill/>
                    </a:lnL>
                    <a:lnR>
                      <a:noFill/>
                    </a:lnR>
                    <a:lnT w="7620" cap="flat" cmpd="sng" algn="ctr">
                      <a:solidFill>
                        <a:srgbClr val="C4C7C5"/>
                      </a:solidFill>
                      <a:prstDash val="solid"/>
                      <a:round/>
                      <a:headEnd type="none" w="med" len="med"/>
                      <a:tailEnd type="none" w="med" len="med"/>
                    </a:lnT>
                    <a:lnB>
                      <a:noFill/>
                    </a:lnB>
                    <a:solidFill>
                      <a:srgbClr val="F8FAFD"/>
                    </a:solidFill>
                  </a:tcPr>
                </a:tc>
                <a:tc>
                  <a:txBody>
                    <a:bodyPr/>
                    <a:lstStyle/>
                    <a:p>
                      <a:pPr rtl="0">
                        <a:spcBef>
                          <a:spcPts val="75"/>
                        </a:spcBef>
                        <a:buNone/>
                      </a:pPr>
                      <a:endParaRPr lang="en-US" sz="700" dirty="0">
                        <a:effectLst/>
                      </a:endParaRPr>
                    </a:p>
                  </a:txBody>
                  <a:tcPr marL="0" marR="161859" marT="0" marB="0" anchor="ctr">
                    <a:lnL>
                      <a:noFill/>
                    </a:lnL>
                    <a:lnR>
                      <a:noFill/>
                    </a:lnR>
                    <a:lnT w="7620" cap="flat" cmpd="sng" algn="ctr">
                      <a:solidFill>
                        <a:srgbClr val="C4C7C5"/>
                      </a:solidFill>
                      <a:prstDash val="solid"/>
                      <a:round/>
                      <a:headEnd type="none" w="med" len="med"/>
                      <a:tailEnd type="none" w="med" len="med"/>
                    </a:lnT>
                    <a:lnB>
                      <a:noFill/>
                    </a:lnB>
                    <a:solidFill>
                      <a:srgbClr val="F8FAFD"/>
                    </a:solidFill>
                  </a:tcPr>
                </a:tc>
                <a:extLst>
                  <a:ext uri="{0D108BD9-81ED-4DB2-BD59-A6C34878D82A}">
                    <a16:rowId xmlns:a16="http://schemas.microsoft.com/office/drawing/2014/main" val="1872018131"/>
                  </a:ext>
                </a:extLst>
              </a:tr>
            </a:tbl>
          </a:graphicData>
        </a:graphic>
      </p:graphicFrame>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1207" y="448056"/>
            <a:ext cx="10785701" cy="640080"/>
          </a:xfrm>
        </p:spPr>
        <p:txBody>
          <a:bodyPr>
            <a:noAutofit/>
          </a:bodyPr>
          <a:lstStyle/>
          <a:p>
            <a:r>
              <a:rPr lang="en-US" sz="3200" b="1" dirty="0">
                <a:latin typeface="Sans Serif Collection" panose="020B0502040504020204" pitchFamily="34" charset="0"/>
                <a:ea typeface="Sans Serif Collection" panose="020B0502040504020204" pitchFamily="34" charset="0"/>
                <a:cs typeface="Sans Serif Collection" panose="020B0502040504020204" pitchFamily="34" charset="0"/>
              </a:rPr>
              <a:t>Problem Definition</a:t>
            </a:r>
          </a:p>
        </p:txBody>
      </p:sp>
      <p:sp>
        <p:nvSpPr>
          <p:cNvPr id="38" name="Content Placeholder 17"/>
          <p:cNvSpPr txBox="1">
            <a:spLocks/>
          </p:cNvSpPr>
          <p:nvPr/>
        </p:nvSpPr>
        <p:spPr>
          <a:xfrm>
            <a:off x="541609" y="1524708"/>
            <a:ext cx="7705576" cy="464749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sz="1600" dirty="0">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7C642CE-D55F-06AA-08EB-C87D14F28F5D}"/>
              </a:ext>
            </a:extLst>
          </p:cNvPr>
          <p:cNvSpPr txBox="1"/>
          <p:nvPr/>
        </p:nvSpPr>
        <p:spPr>
          <a:xfrm>
            <a:off x="629919" y="1248032"/>
            <a:ext cx="11460481" cy="5201424"/>
          </a:xfrm>
          <a:prstGeom prst="rect">
            <a:avLst/>
          </a:prstGeom>
          <a:noFill/>
        </p:spPr>
        <p:txBody>
          <a:bodyPr wrap="square">
            <a:spAutoFit/>
          </a:bodyPr>
          <a:lstStyle/>
          <a:p>
            <a:pPr algn="just"/>
            <a:r>
              <a:rPr lang="en-US" dirty="0"/>
              <a:t>Financial institutions process millions of credit card transactions daily, making real-time fraud detection essential to prevent massive financial losses. However, deploying machine learning models into production introduces severe operational challenges that simple software engineering cannot address. Following are the identified bottlenecks:</a:t>
            </a:r>
          </a:p>
          <a:p>
            <a:pPr algn="just"/>
            <a:endParaRPr lang="en-US" dirty="0"/>
          </a:p>
          <a:p>
            <a:pPr marL="342900" indent="-342900" algn="just">
              <a:buAutoNum type="arabicPeriod"/>
            </a:pPr>
            <a:r>
              <a:rPr lang="en-US" dirty="0"/>
              <a:t>Millions of incoming credit card transactions require real-time stream processing and microsecond inference to halt fraudulent activity before settlement</a:t>
            </a:r>
          </a:p>
          <a:p>
            <a:pPr marL="342900" indent="-342900" algn="just">
              <a:buAutoNum type="arabicPeriod"/>
            </a:pPr>
            <a:endParaRPr lang="en-US" dirty="0"/>
          </a:p>
          <a:p>
            <a:pPr marL="342900" indent="-342900" algn="just">
              <a:buAutoNum type="arabicPeriod"/>
            </a:pPr>
            <a:r>
              <a:rPr lang="en-US" dirty="0"/>
              <a:t>Real-time streams frequently encounter malformed payloads or schema mutations that disrupt live model inference if invalid records are not systematically trapped and isolated</a:t>
            </a:r>
          </a:p>
          <a:p>
            <a:pPr marL="342900" indent="-342900" algn="just">
              <a:buAutoNum type="arabicPeriod"/>
            </a:pPr>
            <a:endParaRPr lang="en-US" dirty="0"/>
          </a:p>
          <a:p>
            <a:pPr marL="342900" indent="-342900" algn="just">
              <a:buAutoNum type="arabicPeriod"/>
            </a:pPr>
            <a:r>
              <a:rPr lang="en-US" dirty="0"/>
              <a:t>Fraud patterns continuously evolve over time, leading to silent performance degradation when models operate without continuous tracking of prediction statistics and feature drift. </a:t>
            </a:r>
          </a:p>
          <a:p>
            <a:pPr marL="342900" indent="-342900" algn="just">
              <a:buAutoNum type="arabicPeriod"/>
            </a:pPr>
            <a:r>
              <a:rPr lang="en-US" dirty="0"/>
              <a:t>Without automated orchestration, updating production models requires manual intervention for retraining, testing, versioning, and service redeployment.</a:t>
            </a:r>
          </a:p>
          <a:p>
            <a:pPr algn="just"/>
            <a:endParaRPr lang="en-US" dirty="0"/>
          </a:p>
          <a:p>
            <a:pPr algn="just"/>
            <a:r>
              <a:rPr lang="en-US" sz="2000" b="1" dirty="0"/>
              <a:t>This project resolves these bottlenecks by engineering a production-ready, automated </a:t>
            </a:r>
            <a:r>
              <a:rPr lang="en-US" sz="2000" b="1" dirty="0" err="1"/>
              <a:t>MLOps</a:t>
            </a:r>
            <a:r>
              <a:rPr lang="en-US" sz="2000" b="1" dirty="0"/>
              <a:t> pipeline</a:t>
            </a:r>
            <a:r>
              <a:rPr lang="en-US" sz="2400" b="1" dirty="0"/>
              <a:t>. </a:t>
            </a: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3AB3-62A2-7F98-1F89-6C691207FFB1}"/>
              </a:ext>
            </a:extLst>
          </p:cNvPr>
          <p:cNvSpPr>
            <a:spLocks noGrp="1"/>
          </p:cNvSpPr>
          <p:nvPr>
            <p:ph type="title"/>
          </p:nvPr>
        </p:nvSpPr>
        <p:spPr/>
        <p:txBody>
          <a:bodyPr/>
          <a:lstStyle/>
          <a:p>
            <a:r>
              <a:rPr lang="en-US" b="1" dirty="0">
                <a:latin typeface="Sans Serif Collection" panose="020B0502040504020204" pitchFamily="34" charset="0"/>
                <a:ea typeface="Sans Serif Collection" panose="020B0502040504020204" pitchFamily="34" charset="0"/>
                <a:cs typeface="Sans Serif Collection" panose="020B0502040504020204" pitchFamily="34" charset="0"/>
              </a:rPr>
              <a:t>Project Pipeline Details</a:t>
            </a:r>
            <a:endParaRPr lang="en-US" dirty="0"/>
          </a:p>
        </p:txBody>
      </p:sp>
      <p:sp>
        <p:nvSpPr>
          <p:cNvPr id="3" name="Content Placeholder 2">
            <a:extLst>
              <a:ext uri="{FF2B5EF4-FFF2-40B4-BE49-F238E27FC236}">
                <a16:creationId xmlns:a16="http://schemas.microsoft.com/office/drawing/2014/main" id="{9FAE6365-4B93-2F84-10EC-D94D08968E18}"/>
              </a:ext>
            </a:extLst>
          </p:cNvPr>
          <p:cNvSpPr>
            <a:spLocks noGrp="1"/>
          </p:cNvSpPr>
          <p:nvPr>
            <p:ph sz="quarter" idx="10"/>
          </p:nvPr>
        </p:nvSpPr>
        <p:spPr>
          <a:xfrm>
            <a:off x="539495" y="1435608"/>
            <a:ext cx="11458916" cy="4974336"/>
          </a:xfrm>
        </p:spPr>
        <p:txBody>
          <a:bodyPr>
            <a:normAutofit fontScale="25000" lnSpcReduction="20000"/>
          </a:bodyPr>
          <a:lstStyle/>
          <a:p>
            <a:pPr algn="just"/>
            <a:r>
              <a:rPr lang="en-US" sz="7200" dirty="0">
                <a:solidFill>
                  <a:schemeClr val="tx1"/>
                </a:solidFill>
              </a:rPr>
              <a:t>The project architecture streams real-time transaction data via Apache Kafka and Spark Structured Streaming, serves real-time predictions through </a:t>
            </a:r>
            <a:r>
              <a:rPr lang="en-US" sz="7200" dirty="0" err="1">
                <a:solidFill>
                  <a:schemeClr val="tx1"/>
                </a:solidFill>
              </a:rPr>
              <a:t>FastAPI</a:t>
            </a:r>
            <a:r>
              <a:rPr lang="en-US" sz="7200" dirty="0">
                <a:solidFill>
                  <a:schemeClr val="tx1"/>
                </a:solidFill>
              </a:rPr>
              <a:t> microservices, automates dataset/model versioning via DVC and </a:t>
            </a:r>
            <a:r>
              <a:rPr lang="en-US" sz="7200" dirty="0" err="1">
                <a:solidFill>
                  <a:schemeClr val="tx1"/>
                </a:solidFill>
              </a:rPr>
              <a:t>MLflow</a:t>
            </a:r>
            <a:r>
              <a:rPr lang="en-US" sz="7200" dirty="0">
                <a:solidFill>
                  <a:schemeClr val="tx1"/>
                </a:solidFill>
              </a:rPr>
              <a:t>, orchestrates continuous retraining using Apache Airflow, and tracks system health and concept drift in real time with Prometheus and Grafana. </a:t>
            </a:r>
            <a:endParaRPr lang="en-US" sz="7200" b="1" u="sng" dirty="0"/>
          </a:p>
          <a:p>
            <a:pPr marL="228600" indent="-228600" algn="just">
              <a:buAutoNum type="arabicPeriod"/>
            </a:pPr>
            <a:r>
              <a:rPr lang="en-US" sz="7200" b="1" u="sng" dirty="0"/>
              <a:t>Data Ingestion Layer: </a:t>
            </a:r>
            <a:r>
              <a:rPr lang="en-US" sz="7200" dirty="0"/>
              <a:t>Reads historical records from creditcard.csv to simulate a real-time transaction stream. Implements configurable rate-limiting and throughput governors to publish JSON-serialized transaction payloads directly to designated Kafka topics. Apache Kafka is used in this layer.</a:t>
            </a:r>
          </a:p>
          <a:p>
            <a:pPr marL="228600" indent="-228600" algn="just">
              <a:buAutoNum type="arabicPeriod"/>
            </a:pPr>
            <a:r>
              <a:rPr lang="en-US" sz="7200" b="1" u="sng" dirty="0"/>
              <a:t>Stream Processing Layer: </a:t>
            </a:r>
            <a:r>
              <a:rPr lang="en-US" sz="7200" dirty="0"/>
              <a:t>Consumes live streaming data from Apache Kafka, parses incoming raw JSON payloads, and enforces strict schema validation using </a:t>
            </a:r>
            <a:r>
              <a:rPr lang="en-US" sz="7200" dirty="0" err="1"/>
              <a:t>PySpark</a:t>
            </a:r>
            <a:r>
              <a:rPr lang="en-US" sz="7200" dirty="0"/>
              <a:t> </a:t>
            </a:r>
            <a:r>
              <a:rPr lang="en-US" sz="7200" dirty="0" err="1"/>
              <a:t>DataFrames</a:t>
            </a:r>
            <a:r>
              <a:rPr lang="en-US" sz="7200" dirty="0"/>
              <a:t>. Automatically isolates malformed or corrupted transactions into a fraud-invalid-transactions while forwarding valid transactions for prediction. Apache Spark Structured Streaming and </a:t>
            </a:r>
            <a:r>
              <a:rPr lang="en-US" sz="7200" dirty="0" err="1"/>
              <a:t>PySpark</a:t>
            </a:r>
            <a:r>
              <a:rPr lang="en-US" sz="7200" dirty="0"/>
              <a:t> is used to implement this layer.</a:t>
            </a:r>
          </a:p>
        </p:txBody>
      </p:sp>
    </p:spTree>
    <p:extLst>
      <p:ext uri="{BB962C8B-B14F-4D97-AF65-F5344CB8AC3E}">
        <p14:creationId xmlns:p14="http://schemas.microsoft.com/office/powerpoint/2010/main" val="4097126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BEAD-B5B3-34C3-64CC-2276B9B5B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26100-E8AD-A749-3156-8417A5E23D83}"/>
              </a:ext>
            </a:extLst>
          </p:cNvPr>
          <p:cNvSpPr>
            <a:spLocks noGrp="1"/>
          </p:cNvSpPr>
          <p:nvPr>
            <p:ph type="title"/>
          </p:nvPr>
        </p:nvSpPr>
        <p:spPr/>
        <p:txBody>
          <a:bodyPr/>
          <a:lstStyle/>
          <a:p>
            <a:r>
              <a:rPr lang="en-US" b="1" dirty="0">
                <a:latin typeface="Sans Serif Collection" panose="020B0502040504020204" pitchFamily="34" charset="0"/>
                <a:ea typeface="Sans Serif Collection" panose="020B0502040504020204" pitchFamily="34" charset="0"/>
                <a:cs typeface="Sans Serif Collection" panose="020B0502040504020204" pitchFamily="34" charset="0"/>
              </a:rPr>
              <a:t>Project Pipeline Details</a:t>
            </a:r>
            <a:endParaRPr lang="en-US" dirty="0"/>
          </a:p>
        </p:txBody>
      </p:sp>
      <p:sp>
        <p:nvSpPr>
          <p:cNvPr id="3" name="Content Placeholder 2">
            <a:extLst>
              <a:ext uri="{FF2B5EF4-FFF2-40B4-BE49-F238E27FC236}">
                <a16:creationId xmlns:a16="http://schemas.microsoft.com/office/drawing/2014/main" id="{10E8DBB6-2E81-DE4D-C863-D2C82D2904A1}"/>
              </a:ext>
            </a:extLst>
          </p:cNvPr>
          <p:cNvSpPr>
            <a:spLocks noGrp="1"/>
          </p:cNvSpPr>
          <p:nvPr>
            <p:ph sz="quarter" idx="10"/>
          </p:nvPr>
        </p:nvSpPr>
        <p:spPr>
          <a:xfrm>
            <a:off x="539495" y="1435608"/>
            <a:ext cx="11458916" cy="4974336"/>
          </a:xfrm>
        </p:spPr>
        <p:txBody>
          <a:bodyPr>
            <a:normAutofit/>
          </a:bodyPr>
          <a:lstStyle/>
          <a:p>
            <a:pPr marL="228600" indent="-228600" algn="just">
              <a:buFont typeface="+mj-lt"/>
              <a:buAutoNum type="arabicPeriod" startAt="3"/>
            </a:pPr>
            <a:r>
              <a:rPr lang="en-US" sz="1800" b="1" u="sng" dirty="0"/>
              <a:t>Model Training &amp; Registry Layer: </a:t>
            </a:r>
            <a:r>
              <a:rPr lang="en-US" sz="1800" dirty="0"/>
              <a:t>Manages historical data preprocessing, stratified splitting, and baseline model training (Logistic Regression vs. </a:t>
            </a:r>
            <a:r>
              <a:rPr lang="en-US" sz="1800" dirty="0" err="1"/>
              <a:t>XGBoost</a:t>
            </a:r>
            <a:r>
              <a:rPr lang="en-US" sz="1800" dirty="0"/>
              <a:t>/Random Forest). Tunes decision boundaries specifically for PR-AUC and Recall to address severe class imbalance. Tracks experiment parameters, metrics, and models in </a:t>
            </a:r>
            <a:r>
              <a:rPr lang="en-US" sz="1800" dirty="0" err="1"/>
              <a:t>MLflow</a:t>
            </a:r>
            <a:r>
              <a:rPr lang="en-US" sz="1800" dirty="0"/>
              <a:t>, while versioning dataset versions and pipelines via DVC. Scikit-learn, </a:t>
            </a:r>
            <a:r>
              <a:rPr lang="en-US" sz="1800" dirty="0" err="1"/>
              <a:t>XGBoost</a:t>
            </a:r>
            <a:r>
              <a:rPr lang="en-US" sz="1800" dirty="0"/>
              <a:t>, </a:t>
            </a:r>
            <a:r>
              <a:rPr lang="en-US" sz="1800" dirty="0" err="1"/>
              <a:t>MLflow</a:t>
            </a:r>
            <a:r>
              <a:rPr lang="en-US" sz="1800" dirty="0"/>
              <a:t>, DVC and Pandas are used as technology stack to implement this layer.</a:t>
            </a:r>
          </a:p>
          <a:p>
            <a:pPr marL="228600" indent="-228600" algn="just">
              <a:buFont typeface="+mj-lt"/>
              <a:buAutoNum type="arabicPeriod" startAt="3"/>
            </a:pPr>
            <a:r>
              <a:rPr lang="en-US" sz="1800" b="1" u="sng" dirty="0"/>
              <a:t>Inference Microservice Layer: </a:t>
            </a:r>
            <a:r>
              <a:rPr lang="en-US" sz="1800" dirty="0"/>
              <a:t>Hosts a low-latency REST API service that loads active models into memory for real-time inference. Exposes structured endpoints including /predict (fraud classification and scoring), /health (liveness probes), /model-info (metadata), and /metrics (Prometheus instrumentation). Fully containerized with Docker Compose orchestrating multi-service dependencies and persistent storage. </a:t>
            </a:r>
          </a:p>
          <a:p>
            <a:pPr marL="228600" indent="-228600">
              <a:buAutoNum type="arabicPeriod"/>
            </a:pPr>
            <a:endParaRPr lang="en-US" sz="1800" dirty="0"/>
          </a:p>
        </p:txBody>
      </p:sp>
    </p:spTree>
    <p:extLst>
      <p:ext uri="{BB962C8B-B14F-4D97-AF65-F5344CB8AC3E}">
        <p14:creationId xmlns:p14="http://schemas.microsoft.com/office/powerpoint/2010/main" val="174888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11B0-1512-B452-8626-FA0A682EA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899A0-3AF6-BF3A-B521-A5398749A89B}"/>
              </a:ext>
            </a:extLst>
          </p:cNvPr>
          <p:cNvSpPr>
            <a:spLocks noGrp="1"/>
          </p:cNvSpPr>
          <p:nvPr>
            <p:ph type="title"/>
          </p:nvPr>
        </p:nvSpPr>
        <p:spPr/>
        <p:txBody>
          <a:bodyPr/>
          <a:lstStyle/>
          <a:p>
            <a:r>
              <a:rPr lang="en-US" b="1" dirty="0">
                <a:latin typeface="Sans Serif Collection" panose="020B0502040504020204" pitchFamily="34" charset="0"/>
                <a:ea typeface="Sans Serif Collection" panose="020B0502040504020204" pitchFamily="34" charset="0"/>
                <a:cs typeface="Sans Serif Collection" panose="020B0502040504020204" pitchFamily="34" charset="0"/>
              </a:rPr>
              <a:t>Project Pipeline Details</a:t>
            </a:r>
            <a:endParaRPr lang="en-US" dirty="0"/>
          </a:p>
        </p:txBody>
      </p:sp>
      <p:sp>
        <p:nvSpPr>
          <p:cNvPr id="3" name="Content Placeholder 2">
            <a:extLst>
              <a:ext uri="{FF2B5EF4-FFF2-40B4-BE49-F238E27FC236}">
                <a16:creationId xmlns:a16="http://schemas.microsoft.com/office/drawing/2014/main" id="{F7810BC9-C9E7-0843-D5FD-C67B3E2736F4}"/>
              </a:ext>
            </a:extLst>
          </p:cNvPr>
          <p:cNvSpPr>
            <a:spLocks noGrp="1"/>
          </p:cNvSpPr>
          <p:nvPr>
            <p:ph sz="quarter" idx="10"/>
          </p:nvPr>
        </p:nvSpPr>
        <p:spPr>
          <a:xfrm>
            <a:off x="182880" y="1290320"/>
            <a:ext cx="11815531" cy="5119624"/>
          </a:xfrm>
        </p:spPr>
        <p:txBody>
          <a:bodyPr>
            <a:normAutofit fontScale="55000" lnSpcReduction="20000"/>
          </a:bodyPr>
          <a:lstStyle/>
          <a:p>
            <a:pPr marL="742950" indent="-742950" algn="just">
              <a:buFont typeface="+mj-lt"/>
              <a:buAutoNum type="arabicPeriod" startAt="5"/>
            </a:pPr>
            <a:r>
              <a:rPr lang="en-US" sz="3300" b="1" u="sng" dirty="0"/>
              <a:t>Workflow Automation &amp; CI/CD </a:t>
            </a:r>
            <a:r>
              <a:rPr lang="en-US" sz="3300" b="1" u="sng" dirty="0" err="1"/>
              <a:t>Layer:</a:t>
            </a:r>
            <a:r>
              <a:rPr lang="en-US" sz="3300" dirty="0" err="1"/>
              <a:t>Orchestrates</a:t>
            </a:r>
            <a:r>
              <a:rPr lang="en-US" sz="3300" dirty="0"/>
              <a:t> automated scheduled retraining workflows using Airflow DAGs with automated quality validation gates prior to model promotion. Executes unit/integration test suites and code linting via GitHub Actions CI/CD to push validated container images to GitHub Container Registry .</a:t>
            </a:r>
          </a:p>
          <a:p>
            <a:pPr marL="742950" indent="-742950" algn="just">
              <a:buFont typeface="+mj-lt"/>
              <a:buAutoNum type="arabicPeriod" startAt="5"/>
            </a:pPr>
            <a:r>
              <a:rPr lang="en-US" sz="3300" b="1" u="sng" dirty="0"/>
              <a:t>Observability &amp; Drift Monitoring </a:t>
            </a:r>
            <a:r>
              <a:rPr lang="en-US" sz="3300" b="1" u="sng" dirty="0" err="1"/>
              <a:t>Layer:</a:t>
            </a:r>
            <a:r>
              <a:rPr lang="en-US" sz="3300" dirty="0" err="1"/>
              <a:t>Instrumentates</a:t>
            </a:r>
            <a:r>
              <a:rPr lang="en-US" sz="3300" dirty="0"/>
              <a:t> API instances to expose latency, request throughput, and HTTP status codes for Prometheus scraping and Grafana dashboard visualization. Evaluates real-time incoming feature windows against baseline training distributions via a /drift endpoint to detect performance degradation and trigger automated retraining.</a:t>
            </a:r>
          </a:p>
          <a:p>
            <a:pPr marL="742950" indent="-742950" algn="just">
              <a:buFont typeface="+mj-lt"/>
              <a:buAutoNum type="arabicPeriod" startAt="5"/>
            </a:pPr>
            <a:endParaRPr lang="en-US" sz="3300" b="1" u="sng" dirty="0"/>
          </a:p>
          <a:p>
            <a:endParaRPr lang="en-US" dirty="0"/>
          </a:p>
          <a:p>
            <a:pPr marL="228600" indent="-228600">
              <a:buAutoNum type="arabicPeriod"/>
            </a:pPr>
            <a:r>
              <a:rPr lang="en-US" dirty="0"/>
              <a:t> </a:t>
            </a:r>
          </a:p>
        </p:txBody>
      </p:sp>
    </p:spTree>
    <p:extLst>
      <p:ext uri="{BB962C8B-B14F-4D97-AF65-F5344CB8AC3E}">
        <p14:creationId xmlns:p14="http://schemas.microsoft.com/office/powerpoint/2010/main" val="1544813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27FDF-C2A5-808D-2869-077E1278F738}"/>
              </a:ext>
            </a:extLst>
          </p:cNvPr>
          <p:cNvSpPr>
            <a:spLocks noGrp="1"/>
          </p:cNvSpPr>
          <p:nvPr>
            <p:ph type="title"/>
          </p:nvPr>
        </p:nvSpPr>
        <p:spPr/>
        <p:txBody>
          <a:bodyPr/>
          <a:lstStyle/>
          <a:p>
            <a:r>
              <a:rPr lang="en-US" b="1" dirty="0">
                <a:latin typeface="Sans Serif Collection" panose="020B0502040504020204" pitchFamily="34" charset="0"/>
                <a:ea typeface="Sans Serif Collection" panose="020B0502040504020204" pitchFamily="34" charset="0"/>
                <a:cs typeface="Sans Serif Collection" panose="020B0502040504020204" pitchFamily="34" charset="0"/>
              </a:rPr>
              <a:t>Contribution Details</a:t>
            </a:r>
          </a:p>
        </p:txBody>
      </p:sp>
      <p:sp>
        <p:nvSpPr>
          <p:cNvPr id="3" name="Content Placeholder 2">
            <a:extLst>
              <a:ext uri="{FF2B5EF4-FFF2-40B4-BE49-F238E27FC236}">
                <a16:creationId xmlns:a16="http://schemas.microsoft.com/office/drawing/2014/main" id="{A2C7E0EB-299F-CFA7-9F34-150CB311718F}"/>
              </a:ext>
            </a:extLst>
          </p:cNvPr>
          <p:cNvSpPr>
            <a:spLocks noGrp="1"/>
          </p:cNvSpPr>
          <p:nvPr>
            <p:ph sz="quarter" idx="10"/>
          </p:nvPr>
        </p:nvSpPr>
        <p:spPr>
          <a:xfrm>
            <a:off x="539496" y="1435608"/>
            <a:ext cx="11388344" cy="3977640"/>
          </a:xfrm>
        </p:spPr>
        <p:txBody>
          <a:bodyPr/>
          <a:lstStyle/>
          <a:p>
            <a:pPr lvl="0">
              <a:lnSpc>
                <a:spcPct val="100000"/>
              </a:lnSpc>
              <a:spcBef>
                <a:spcPts val="1200"/>
              </a:spcBef>
              <a:spcAft>
                <a:spcPts val="0"/>
              </a:spcAft>
              <a:defRPr/>
            </a:pPr>
            <a:r>
              <a:rPr kumimoji="0" lang="en-US" sz="1800" b="1" i="0"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Sarita-DA25M617 : </a:t>
            </a:r>
            <a:r>
              <a:rPr kumimoji="0" lang="en-US" sz="1800" i="0"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developed </a:t>
            </a:r>
            <a:r>
              <a:rPr lang="en-US" sz="1800" i="1" dirty="0">
                <a:solidFill>
                  <a:schemeClr val="tx1"/>
                </a:solidFill>
              </a:rPr>
              <a:t>Data Ingestion and stream processing Layer</a:t>
            </a:r>
            <a:endParaRPr kumimoji="0" lang="en-US" sz="1800" i="1"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spcBef>
                <a:spcPts val="1200"/>
              </a:spcBef>
              <a:spcAft>
                <a:spcPts val="0"/>
              </a:spcAft>
              <a:defRPr/>
            </a:pPr>
            <a:r>
              <a:rPr lang="en-US" sz="1800" b="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Mohammed Shujath-DA25M590 </a:t>
            </a:r>
            <a:r>
              <a:rPr lang="en-US" sz="18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developed </a:t>
            </a:r>
            <a:r>
              <a:rPr lang="en-US" sz="1800" i="1" dirty="0">
                <a:solidFill>
                  <a:schemeClr val="tx1"/>
                </a:solidFill>
              </a:rPr>
              <a:t>Model Training &amp; Registry Layer </a:t>
            </a:r>
            <a:endParaRPr kumimoji="0" lang="en-US" sz="1800" i="1"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spcBef>
                <a:spcPts val="1200"/>
              </a:spcBef>
              <a:spcAft>
                <a:spcPts val="0"/>
              </a:spcAft>
              <a:defRPr/>
            </a:pPr>
            <a:r>
              <a:rPr kumimoji="0" lang="en-US" sz="1800" b="1" i="0"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Gutti </a:t>
            </a:r>
            <a:r>
              <a:rPr lang="en-US" sz="1800" b="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Ashok Kumar-DA25M567</a:t>
            </a:r>
            <a:r>
              <a:rPr lang="en-US" sz="18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developed </a:t>
            </a:r>
            <a:r>
              <a:rPr lang="en-US" sz="1800" i="1" dirty="0">
                <a:solidFill>
                  <a:schemeClr val="tx1"/>
                </a:solidFill>
              </a:rPr>
              <a:t>Inference Microservice Layer</a:t>
            </a:r>
            <a:endParaRPr kumimoji="0" lang="en-US" sz="1800" i="1"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endParaRPr>
          </a:p>
          <a:p>
            <a:pPr lvl="0">
              <a:lnSpc>
                <a:spcPct val="100000"/>
              </a:lnSpc>
              <a:spcBef>
                <a:spcPts val="1200"/>
              </a:spcBef>
              <a:spcAft>
                <a:spcPts val="0"/>
              </a:spcAft>
              <a:defRPr/>
            </a:pPr>
            <a:r>
              <a:rPr kumimoji="0" lang="en-US" sz="1800" b="1" i="0"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Belhe Rohan </a:t>
            </a:r>
            <a:r>
              <a:rPr lang="en-US" sz="1800" b="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Shirish- DA25M555</a:t>
            </a:r>
            <a:r>
              <a:rPr lang="en-US" sz="18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Responsible for </a:t>
            </a:r>
            <a:r>
              <a:rPr lang="en-US" sz="1800" i="1" dirty="0">
                <a:solidFill>
                  <a:schemeClr val="tx1"/>
                </a:solidFill>
              </a:rPr>
              <a:t>Workflow Automation &amp; CI/CD Layer </a:t>
            </a:r>
          </a:p>
          <a:p>
            <a:pPr lvl="0">
              <a:lnSpc>
                <a:spcPct val="100000"/>
              </a:lnSpc>
              <a:spcBef>
                <a:spcPts val="1200"/>
              </a:spcBef>
              <a:spcAft>
                <a:spcPts val="0"/>
              </a:spcAft>
              <a:defRPr/>
            </a:pPr>
            <a:r>
              <a:rPr kumimoji="0" lang="en-US" sz="1800" b="1" i="0"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K. Afsar </a:t>
            </a:r>
            <a:r>
              <a:rPr lang="en-US" sz="1800" b="1"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Ali- DA25M535:</a:t>
            </a:r>
            <a:r>
              <a:rPr lang="en-US" sz="1800" dirty="0">
                <a:solidFill>
                  <a:schemeClr val="tx1"/>
                </a:solidFill>
                <a:latin typeface="Sans Serif Collection" panose="020B0502040504020204" pitchFamily="34" charset="0"/>
                <a:ea typeface="Sans Serif Collection" panose="020B0502040504020204" pitchFamily="34" charset="0"/>
                <a:cs typeface="Sans Serif Collection" panose="020B0502040504020204" pitchFamily="34" charset="0"/>
              </a:rPr>
              <a:t> responsible for </a:t>
            </a:r>
            <a:r>
              <a:rPr lang="en-US" sz="1800" i="1" u="sng" dirty="0">
                <a:solidFill>
                  <a:schemeClr val="tx1"/>
                </a:solidFill>
              </a:rPr>
              <a:t>Observability &amp; Drift Monitoring Layer</a:t>
            </a:r>
            <a:r>
              <a:rPr lang="en-US" sz="2000" i="1" u="sng" dirty="0"/>
              <a:t>:</a:t>
            </a:r>
            <a:endParaRPr kumimoji="0" lang="en-US" sz="2000" i="1" u="none" strike="noStrike" kern="1200" cap="none" spc="0" normalizeH="0" baseline="0" noProof="0" dirty="0">
              <a:ln>
                <a:noFill/>
              </a:ln>
              <a:solidFill>
                <a:schemeClr val="tx1"/>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05940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56C76-97EB-9135-3FC9-9BAE076377F5}"/>
            </a:ext>
          </a:extLst>
        </p:cNvPr>
        <p:cNvGrpSpPr/>
        <p:nvPr/>
      </p:nvGrpSpPr>
      <p:grpSpPr>
        <a:xfrm>
          <a:off x="0" y="0"/>
          <a:ext cx="0" cy="0"/>
          <a:chOff x="0" y="0"/>
          <a:chExt cx="0" cy="0"/>
        </a:xfrm>
      </p:grpSpPr>
      <p:pic>
        <p:nvPicPr>
          <p:cNvPr id="4" name="Picture 3" descr="PowerPoint program icon">
            <a:extLst>
              <a:ext uri="{FF2B5EF4-FFF2-40B4-BE49-F238E27FC236}">
                <a16:creationId xmlns:a16="http://schemas.microsoft.com/office/drawing/2014/main" id="{67E41859-E88B-C1A7-ED1C-933959EC38BA}"/>
              </a:ext>
            </a:extLst>
          </p:cNvPr>
          <p:cNvPicPr>
            <a:picLocks noChangeAspect="1"/>
          </p:cNvPicPr>
          <p:nvPr/>
        </p:nvPicPr>
        <p:blipFill>
          <a:blip r:embed="rId3"/>
          <a:srcRect/>
          <a:stretch/>
        </p:blipFill>
        <p:spPr bwMode="invGray">
          <a:xfrm>
            <a:off x="670216" y="5193062"/>
            <a:ext cx="822960" cy="822960"/>
          </a:xfrm>
          <a:prstGeom prst="rect">
            <a:avLst/>
          </a:prstGeom>
        </p:spPr>
      </p:pic>
      <p:sp>
        <p:nvSpPr>
          <p:cNvPr id="3" name="Rectangle 2">
            <a:extLst>
              <a:ext uri="{FF2B5EF4-FFF2-40B4-BE49-F238E27FC236}">
                <a16:creationId xmlns:a16="http://schemas.microsoft.com/office/drawing/2014/main" id="{CDDCC455-16FD-F015-5191-FFA390613121}"/>
              </a:ext>
            </a:extLst>
          </p:cNvPr>
          <p:cNvSpPr/>
          <p:nvPr/>
        </p:nvSpPr>
        <p:spPr>
          <a:xfrm>
            <a:off x="4308331" y="2967335"/>
            <a:ext cx="3575338"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Thank You</a:t>
            </a:r>
          </a:p>
        </p:txBody>
      </p:sp>
    </p:spTree>
    <p:extLst>
      <p:ext uri="{BB962C8B-B14F-4D97-AF65-F5344CB8AC3E}">
        <p14:creationId xmlns:p14="http://schemas.microsoft.com/office/powerpoint/2010/main" val="2839817587"/>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3EE4EA-81C0-48D0-BEBD-A2EFD6B38B42}">
  <ds:schemaRefs>
    <ds:schemaRef ds:uri="http://purl.org/dc/dcmitype/"/>
    <ds:schemaRef ds:uri="http://schemas.microsoft.com/office/2006/documentManagement/types"/>
    <ds:schemaRef ds:uri="http://schemas.microsoft.com/office/2006/metadata/properties"/>
    <ds:schemaRef ds:uri="http://www.w3.org/XML/1998/namespace"/>
    <ds:schemaRef ds:uri="16c05727-aa75-4e4a-9b5f-8a80a1165891"/>
    <ds:schemaRef ds:uri="http://purl.org/dc/elements/1.1/"/>
    <ds:schemaRef ds:uri="http://purl.org/dc/terms/"/>
    <ds:schemaRef ds:uri="http://schemas.microsoft.com/office/infopath/2007/PartnerControls"/>
    <ds:schemaRef ds:uri="http://schemas.microsoft.com/sharepoint/v3"/>
    <ds:schemaRef ds:uri="http://schemas.openxmlformats.org/package/2006/metadata/core-properties"/>
    <ds:schemaRef ds:uri="230e9df3-be65-4c73-a93b-d1236ebd677e"/>
    <ds:schemaRef ds:uri="71af3243-3dd4-4a8d-8c0d-dd76da1f02a5"/>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63EE24-83AF-4B4D-B45B-11D1ECD436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{733582D8-7F79-4986-8DF8-3B5D5EE4F3BA}TF2989475c-5427-4edb-9ec1-00f4ce72165b77c8433f_win32-c33c42577f73</Template>
  <TotalTime>385</TotalTime>
  <Words>646</Words>
  <Application>Microsoft Office PowerPoint</Application>
  <PresentationFormat>Widescreen</PresentationFormat>
  <Paragraphs>44</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Sans Serif Collection</vt:lpstr>
      <vt:lpstr>Segoe UI</vt:lpstr>
      <vt:lpstr>Segoe UI Light</vt:lpstr>
      <vt:lpstr>Custom</vt:lpstr>
      <vt:lpstr>Credit Card Fraud Detection Pipeline</vt:lpstr>
      <vt:lpstr>Problem Definition</vt:lpstr>
      <vt:lpstr>Project Pipeline Details</vt:lpstr>
      <vt:lpstr>Project Pipeline Details</vt:lpstr>
      <vt:lpstr>Project Pipeline Details</vt:lpstr>
      <vt:lpstr>Contribution 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Sarita Jangra</dc:creator>
  <cp:keywords/>
  <cp:lastModifiedBy>Sarita Jangra</cp:lastModifiedBy>
  <cp:revision>72</cp:revision>
  <dcterms:created xsi:type="dcterms:W3CDTF">2026-08-10T19:20:47Z</dcterms:created>
  <dcterms:modified xsi:type="dcterms:W3CDTF">2026-08-20T16:13:55Z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